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Baskervville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rimson Pro Bold" panose="020B0604020202020204" charset="0"/>
      <p:regular r:id="rId23"/>
    </p:embeddedFont>
    <p:embeddedFont>
      <p:font typeface="Open Sans" panose="020B0606030504020204" pitchFamily="34" charset="0"/>
      <p:regular r:id="rId24"/>
    </p:embeddedFont>
    <p:embeddedFont>
      <p:font typeface="Open Sans Bold" panose="020B0806030504020204" charset="0"/>
      <p:regular r:id="rId25"/>
    </p:embeddedFont>
    <p:embeddedFont>
      <p:font typeface="Poppins" panose="00000500000000000000" pitchFamily="2" charset="0"/>
      <p:regular r:id="rId26"/>
    </p:embeddedFont>
    <p:embeddedFont>
      <p:font typeface="Poppins Bold" panose="00000800000000000000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85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ymind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shopymind.vercel.app/dashboard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hyperlink" Target="https://shopymind.vercel.app/" TargetMode="External"/><Relationship Id="rId7" Type="http://schemas.openxmlformats.org/officeDocument/2006/relationships/image" Target="../media/image18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opymind.vercel.app/dashboard.html" TargetMode="External"/><Relationship Id="rId5" Type="http://schemas.openxmlformats.org/officeDocument/2006/relationships/hyperlink" Target="https://shopymind.vercel.app/" TargetMode="External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1442839"/>
            <a:ext cx="11109841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ShopMind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0927" y="2320826"/>
            <a:ext cx="11650768" cy="216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Autonomous Agentic Commerce Assistant &amp; Real-Time Merchant Observability Platform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0927" y="2689225"/>
            <a:ext cx="5109935" cy="205383"/>
          </a:xfrm>
          <a:prstGeom prst="roundRect">
            <a:avLst>
              <a:gd name="adj" fmla="val 49999"/>
            </a:avLst>
          </a:prstGeom>
          <a:solidFill>
            <a:srgbClr val="ECDFE3"/>
          </a:solidFill>
          <a:ln/>
        </p:spPr>
      </p:sp>
      <p:sp>
        <p:nvSpPr>
          <p:cNvPr id="5" name="Text 3"/>
          <p:cNvSpPr/>
          <p:nvPr/>
        </p:nvSpPr>
        <p:spPr>
          <a:xfrm>
            <a:off x="621987" y="2729706"/>
            <a:ext cx="5557401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RAZORPAY AGENTIC AI COMMERCE CHALLENGE — TRACK 01: AI GROWTH &amp; AGENTIC COMMERCE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0927" y="3046710"/>
            <a:ext cx="11109841" cy="871538"/>
          </a:xfrm>
          <a:prstGeom prst="roundRect">
            <a:avLst>
              <a:gd name="adj" fmla="val 23278"/>
            </a:avLst>
          </a:prstGeom>
          <a:solidFill>
            <a:srgbClr val="ECDFE3"/>
          </a:solidFill>
          <a:ln/>
        </p:spPr>
      </p:sp>
      <p:sp>
        <p:nvSpPr>
          <p:cNvPr id="7" name="Shape 5"/>
          <p:cNvSpPr/>
          <p:nvPr/>
        </p:nvSpPr>
        <p:spPr>
          <a:xfrm>
            <a:off x="540927" y="3046710"/>
            <a:ext cx="5554920" cy="871538"/>
          </a:xfrm>
          <a:custGeom>
            <a:avLst/>
            <a:gdLst/>
            <a:ahLst/>
            <a:cxnLst/>
            <a:rect l="l" t="t" r="r" b="b"/>
            <a:pathLst>
              <a:path w="5554920" h="871538">
                <a:moveTo>
                  <a:pt x="169061" y="0"/>
                </a:moveTo>
                <a:lnTo>
                  <a:pt x="5554920" y="0"/>
                </a:lnTo>
                <a:lnTo>
                  <a:pt x="5554920" y="871538"/>
                </a:lnTo>
                <a:lnTo>
                  <a:pt x="169061" y="871538"/>
                </a:lnTo>
                <a:arcTo wR="169061" hR="169065" stAng="5400000" swAng="5400000"/>
                <a:lnTo>
                  <a:pt x="0" y="169065"/>
                </a:lnTo>
                <a:arcTo wR="169061" hR="169065" stAng="10800000" swAng="5400000"/>
                <a:close/>
              </a:path>
            </a:pathLst>
          </a:custGeom>
          <a:solidFill>
            <a:srgbClr val="ECDFE3"/>
          </a:solidFill>
          <a:ln/>
        </p:spPr>
      </p:sp>
      <p:sp>
        <p:nvSpPr>
          <p:cNvPr id="8" name="Text 6"/>
          <p:cNvSpPr/>
          <p:nvPr/>
        </p:nvSpPr>
        <p:spPr>
          <a:xfrm>
            <a:off x="676159" y="3181945"/>
            <a:ext cx="5284457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App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159" y="3566716"/>
            <a:ext cx="5284457" cy="216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u="sng" dirty="0">
                <a:solidFill>
                  <a:srgbClr val="C7A2A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shopymind.vercel.app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48" y="3046710"/>
            <a:ext cx="5554920" cy="871538"/>
          </a:xfrm>
          <a:custGeom>
            <a:avLst/>
            <a:gdLst/>
            <a:ahLst/>
            <a:cxnLst/>
            <a:rect l="l" t="t" r="r" b="b"/>
            <a:pathLst>
              <a:path w="5554920" h="871538">
                <a:moveTo>
                  <a:pt x="0" y="0"/>
                </a:moveTo>
                <a:lnTo>
                  <a:pt x="5385860" y="0"/>
                </a:lnTo>
                <a:arcTo wR="169061" hR="169065" stAng="16200000" swAng="5400000"/>
                <a:lnTo>
                  <a:pt x="5554920" y="702473"/>
                </a:lnTo>
                <a:arcTo wR="169061" hR="169065" stAng="0" swAng="5400000"/>
                <a:lnTo>
                  <a:pt x="0" y="871538"/>
                </a:lnTo>
                <a:lnTo>
                  <a:pt x="0" y="0"/>
                </a:lnTo>
                <a:close/>
              </a:path>
            </a:pathLst>
          </a:custGeom>
          <a:solidFill>
            <a:srgbClr val="ECDFE3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3046710"/>
            <a:ext cx="19050" cy="871538"/>
          </a:xfrm>
          <a:prstGeom prst="roundRect">
            <a:avLst>
              <a:gd name="adj" fmla="val 49999"/>
            </a:avLst>
          </a:prstGeom>
          <a:solidFill>
            <a:srgbClr val="D2C5C9"/>
          </a:solidFill>
          <a:ln/>
        </p:spPr>
      </p:sp>
      <p:sp>
        <p:nvSpPr>
          <p:cNvPr id="12" name="Text 10"/>
          <p:cNvSpPr/>
          <p:nvPr/>
        </p:nvSpPr>
        <p:spPr>
          <a:xfrm>
            <a:off x="6231079" y="3181945"/>
            <a:ext cx="5284457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Dashboard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31079" y="3566716"/>
            <a:ext cx="5284457" cy="216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u="sng" dirty="0">
                <a:solidFill>
                  <a:srgbClr val="C7A2A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shopymind.vercel.app/dashboard.html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97" y="4070350"/>
            <a:ext cx="5584785" cy="1344712"/>
          </a:xfrm>
          <a:prstGeom prst="roundRect">
            <a:avLst>
              <a:gd name="adj" fmla="val 24139"/>
            </a:avLst>
          </a:prstGeom>
          <a:solidFill>
            <a:srgbClr val="824E5C"/>
          </a:solidFill>
          <a:ln/>
        </p:spPr>
      </p:sp>
      <p:sp>
        <p:nvSpPr>
          <p:cNvPr id="15" name="Text 13"/>
          <p:cNvSpPr/>
          <p:nvPr/>
        </p:nvSpPr>
        <p:spPr>
          <a:xfrm>
            <a:off x="578728" y="4205585"/>
            <a:ext cx="5314321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It Is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78728" y="4644529"/>
            <a:ext cx="5314321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dual-agent commerce system that transforms passive product catalogs into proactive, accountable shopping experiences — powered by bounded tool-calling, not hallucination.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7194" y="4205585"/>
            <a:ext cx="5389924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Makes It Different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67194" y="4644529"/>
            <a:ext cx="5389924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action is logged, every state mutation is user-gated, every rupee of incremental revenue is isolated and measured. Built for auditors and engineers, not just shoppers.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8AAF4F-692C-7628-C2BA-A41558BF7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614" y="6476967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941388"/>
            <a:ext cx="11109841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Problem: Four Friction Points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0927" y="1819374"/>
            <a:ext cx="11650768" cy="216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Commerce funnels are leaking revenue at every stage — and merchants have no visibility into why.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927" y="2187773"/>
            <a:ext cx="5487255" cy="1558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1406" y="2342059"/>
            <a:ext cx="5102494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🔍</a:t>
            </a: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Rigid Search &amp; Filter Fatigue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1406" y="2726829"/>
            <a:ext cx="5102494" cy="86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Keyword-based discovery and complex spec filters cause decision paralysis for shoppers navigating nuanced product choices. "Gaming laptop under ₹80k with 16GB RAM" cannot be answered by a faceted search UI.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3414" y="2187773"/>
            <a:ext cx="5487354" cy="15585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3893" y="2342059"/>
            <a:ext cx="5102593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🛒</a:t>
            </a: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Cart Abandonment Crisis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93893" y="2726829"/>
            <a:ext cx="510259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~70% of carts are abandoned</a:t>
            </a: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due to unanswered questions and checkout friction. That is not a UX problem — it is a revenue hemorrhage that compounds at scale.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27" y="3881537"/>
            <a:ext cx="5487255" cy="13422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1406" y="4035822"/>
            <a:ext cx="5102494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📦</a:t>
            </a: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Blind Upselling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771406" y="4420592"/>
            <a:ext cx="5102494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 recommendation widgets annoy rather than convert. There is no signal on what actually moves customers, and no feedback loop to improve. The system fires in the dark.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414" y="3881537"/>
            <a:ext cx="5487354" cy="13422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93893" y="4035822"/>
            <a:ext cx="5102593" cy="30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📊</a:t>
            </a: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Merchant Black-Box Blindspots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6393893" y="4420592"/>
            <a:ext cx="510259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visibility into customer hesitation, upsell failure reasons, or true intent before drop-off. Merchants are flying blind on the most consequential moments in the funnel.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40927" y="5375870"/>
            <a:ext cx="11109841" cy="540643"/>
          </a:xfrm>
          <a:prstGeom prst="roundRect">
            <a:avLst>
              <a:gd name="adj" fmla="val 37524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59" y="5572522"/>
            <a:ext cx="168965" cy="1352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0356" y="5544840"/>
            <a:ext cx="11144765" cy="216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one of these friction points is a solvable engineering problem — not a product gap. ShopMind AI treats them as such.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8AAF4F-692C-7628-C2BA-A41558BF7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512167"/>
            <a:ext cx="11109841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Now: The Protocol Race &amp; Merchant Appetite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48061" y="1275457"/>
            <a:ext cx="5583395" cy="2963267"/>
          </a:xfrm>
          <a:prstGeom prst="roundRect">
            <a:avLst>
              <a:gd name="adj" fmla="val 10441"/>
            </a:avLst>
          </a:prstGeom>
          <a:solidFill>
            <a:srgbClr val="824E5C"/>
          </a:solidFill>
          <a:ln/>
        </p:spPr>
      </p:sp>
      <p:sp>
        <p:nvSpPr>
          <p:cNvPr id="4" name="Text 2"/>
          <p:cNvSpPr/>
          <p:nvPr/>
        </p:nvSpPr>
        <p:spPr>
          <a:xfrm>
            <a:off x="576943" y="1398290"/>
            <a:ext cx="532563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Protocol Race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6943" y="1810643"/>
            <a:ext cx="5325632" cy="1519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Agent-to-agent commerce is the defining open problem in payments infrastructure right now. </a:t>
            </a: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NPCI's UAP, ACP, AP2, and x402</a:t>
            </a: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 all racing to standardize the protocol layer. The winner will own the rails for autonomous commerce at scale.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a future-state problem. Standardization debates are happening in working groups today, and the first credible auditable agentic solution will set the reference implementation.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59455" y="1398290"/>
            <a:ext cx="539766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Infrastructure Is Already Ready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59455" y="1810643"/>
            <a:ext cx="5397663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Razorpay's in-app agentic pilots are already live — proving both merchant appetite and platform readiness. The backend payment rails, webhook infrastructure, and SDK surface area required to build ShopMind AI exist and are production-grade.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59455" y="2537420"/>
            <a:ext cx="539766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Gap That Remains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59455" y="2949773"/>
            <a:ext cx="5932240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doesn't yet exist is a credible, auditable agentic commerce layer that: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59455" y="3261618"/>
            <a:ext cx="5397663" cy="93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Does not hallucinate products or prices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Surfaces explainable decision traces to merchants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Gates state-mutating actions behind human approval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incremental AI revenue in isolation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0927" y="4376936"/>
            <a:ext cx="5493506" cy="822325"/>
          </a:xfrm>
          <a:prstGeom prst="roundRect">
            <a:avLst>
              <a:gd name="adj" fmla="val 23514"/>
            </a:avLst>
          </a:prstGeom>
          <a:solidFill>
            <a:srgbClr val="ECDFE3"/>
          </a:solidFill>
          <a:ln/>
        </p:spPr>
      </p:sp>
      <p:sp>
        <p:nvSpPr>
          <p:cNvPr id="12" name="Text 10"/>
          <p:cNvSpPr/>
          <p:nvPr/>
        </p:nvSpPr>
        <p:spPr>
          <a:xfrm>
            <a:off x="669809" y="4505821"/>
            <a:ext cx="523574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Infrastructure 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9809" y="4869061"/>
            <a:ext cx="5235742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Razorpay SDK, Postgres, Vercel Serverless — all production-ready today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57262" y="4376936"/>
            <a:ext cx="5493506" cy="822325"/>
          </a:xfrm>
          <a:prstGeom prst="roundRect">
            <a:avLst>
              <a:gd name="adj" fmla="val 23514"/>
            </a:avLst>
          </a:prstGeom>
          <a:solidFill>
            <a:srgbClr val="ECDFE3"/>
          </a:solidFill>
          <a:ln/>
        </p:spPr>
      </p:sp>
      <p:sp>
        <p:nvSpPr>
          <p:cNvPr id="15" name="Text 13"/>
          <p:cNvSpPr/>
          <p:nvPr/>
        </p:nvSpPr>
        <p:spPr>
          <a:xfrm>
            <a:off x="6286144" y="4505821"/>
            <a:ext cx="523574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Demand 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86144" y="4869061"/>
            <a:ext cx="5235742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appetite validated by Razorpay's own agentic pilots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0927" y="5322094"/>
            <a:ext cx="5493506" cy="1023640"/>
          </a:xfrm>
          <a:prstGeom prst="roundRect">
            <a:avLst>
              <a:gd name="adj" fmla="val 18890"/>
            </a:avLst>
          </a:prstGeom>
          <a:solidFill>
            <a:srgbClr val="ECDFE3"/>
          </a:solidFill>
          <a:ln/>
        </p:spPr>
      </p:sp>
      <p:sp>
        <p:nvSpPr>
          <p:cNvPr id="18" name="Text 16"/>
          <p:cNvSpPr/>
          <p:nvPr/>
        </p:nvSpPr>
        <p:spPr>
          <a:xfrm>
            <a:off x="669809" y="5450979"/>
            <a:ext cx="523574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Protocol Window 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809" y="5814219"/>
            <a:ext cx="5235742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UAP, ACP, AP2, x402 — standardization race is live and unresolved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57262" y="5322094"/>
            <a:ext cx="5493506" cy="1023640"/>
          </a:xfrm>
          <a:prstGeom prst="roundRect">
            <a:avLst>
              <a:gd name="adj" fmla="val 18890"/>
            </a:avLst>
          </a:prstGeom>
          <a:solidFill>
            <a:srgbClr val="ECDFE3"/>
          </a:solidFill>
          <a:ln/>
        </p:spPr>
      </p:sp>
      <p:sp>
        <p:nvSpPr>
          <p:cNvPr id="21" name="Text 19"/>
          <p:cNvSpPr/>
          <p:nvPr/>
        </p:nvSpPr>
        <p:spPr>
          <a:xfrm>
            <a:off x="6286144" y="5450979"/>
            <a:ext cx="523574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Credible Solution 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86144" y="5814219"/>
            <a:ext cx="5235742" cy="402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auditable, non-hallucinating agentic layer exists at production quality — until now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63DD81-1415-40D5-F0E1-37FC23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21184"/>
            <a:ext cx="11109841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Solution: Dual-Agent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0927" y="1245890"/>
            <a:ext cx="11650768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purpose-built agents, one observability layer. Each component has a defined scope, bounded tool set, and deterministic execution path.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7" y="1585416"/>
            <a:ext cx="2088502" cy="1290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927" y="3029645"/>
            <a:ext cx="3600955" cy="57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Customer-Facing Commerce Agent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0927" y="3682405"/>
            <a:ext cx="3600955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Natural-language shopping copilot powered by </a:t>
            </a: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gemini-3.5-flash</a:t>
            </a: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Zero hardcoded product knowledge. Operates exclusively through deterministic tool-calling: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0927" y="4360069"/>
            <a:ext cx="3600955" cy="1460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search_products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compare_products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check_customer_owns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get_complementary_products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</a:t>
            </a:r>
            <a:endParaRPr lang="en-US" sz="1000" dirty="0"/>
          </a:p>
          <a:p>
            <a:pPr marL="203200" indent="-203200" algn="l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initiate_checkout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370" y="1585416"/>
            <a:ext cx="2088502" cy="12907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5370" y="3029645"/>
            <a:ext cx="3600955" cy="57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Autonomous Campaign Orchestrator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295370" y="3682405"/>
            <a:ext cx="3600955" cy="1006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 agent scanning abandoned carts and issuing </a:t>
            </a: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tiered nudges and discounts</a:t>
            </a: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recover revenue. Operates on a configurable schedule with merchant-defined discount tiers — no manual intervention required.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813" y="1585416"/>
            <a:ext cx="2088502" cy="12907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9813" y="3029645"/>
            <a:ext cx="360095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Merchant Intelligence Dashboard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049813" y="3392884"/>
            <a:ext cx="3600955" cy="805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AI-assisted vs. organic revenue split, full audit trail, and </a:t>
            </a: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AI decision-trace visibility</a:t>
            </a: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Every action the agent took, every user approval, every outcome — surfaced for merchant review.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34200" y="6097290"/>
            <a:ext cx="11457495" cy="201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Transforms passive catalogs into proactive, accountable commerce. Every decision is traceable. Every action is bounded.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0927" y="5959078"/>
            <a:ext cx="19050" cy="477738"/>
          </a:xfrm>
          <a:prstGeom prst="roundRect">
            <a:avLst>
              <a:gd name="adj" fmla="val 49999"/>
            </a:avLst>
          </a:prstGeom>
          <a:solidFill>
            <a:srgbClr val="C7A2AC"/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D77019-7EB2-8BF4-5429-B17116D2B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391815"/>
            <a:ext cx="11109841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End-to-End Flow: Session to Payment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540927" y="1164630"/>
            <a:ext cx="11650768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 deterministic steps from session initialization to merchant-visible outcome. No step is skipped; no state mutation is ungated.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927" y="1476375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0927" y="1671935"/>
            <a:ext cx="54993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6" name="Text 4"/>
          <p:cNvSpPr/>
          <p:nvPr/>
        </p:nvSpPr>
        <p:spPr>
          <a:xfrm>
            <a:off x="540927" y="1758553"/>
            <a:ext cx="54993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Session Init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0927" y="2100461"/>
            <a:ext cx="54993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opens app; session created with unique 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51309" y="1476375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51309" y="1671935"/>
            <a:ext cx="54994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0" name="Text 8"/>
          <p:cNvSpPr/>
          <p:nvPr/>
        </p:nvSpPr>
        <p:spPr>
          <a:xfrm>
            <a:off x="6151309" y="1758553"/>
            <a:ext cx="54994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NL Spec Discovery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51309" y="2100461"/>
            <a:ext cx="549945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describes need: </a:t>
            </a:r>
            <a:r>
              <a:rPr lang="en-US" sz="950" i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"laptop under ₹80k for gaming"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0927" y="2496542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0927" y="2692102"/>
            <a:ext cx="54993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4" name="Text 12"/>
          <p:cNvSpPr/>
          <p:nvPr/>
        </p:nvSpPr>
        <p:spPr>
          <a:xfrm>
            <a:off x="540927" y="2778720"/>
            <a:ext cx="54993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Tool-Calling 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0927" y="3120628"/>
            <a:ext cx="54993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search_products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queries Postgres, returns structured comparisons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51309" y="2496542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1309" y="2692102"/>
            <a:ext cx="54994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8" name="Text 16"/>
          <p:cNvSpPr/>
          <p:nvPr/>
        </p:nvSpPr>
        <p:spPr>
          <a:xfrm>
            <a:off x="6151309" y="2778720"/>
            <a:ext cx="54994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Customer Selection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51309" y="3120628"/>
            <a:ext cx="549945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picks an item from agent-presented results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0927" y="3516709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0927" y="3712270"/>
            <a:ext cx="54993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2" name="Text 20"/>
          <p:cNvSpPr/>
          <p:nvPr/>
        </p:nvSpPr>
        <p:spPr>
          <a:xfrm>
            <a:off x="540927" y="3798887"/>
            <a:ext cx="54993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Human-in-the-Loop Gate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0927" y="4140795"/>
            <a:ext cx="549935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Explicit </a:t>
            </a:r>
            <a:r>
              <a:rPr lang="en-US" sz="9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 Confirm / ✕ Cancel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pause before any state mutation executes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51309" y="3516709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51309" y="3712270"/>
            <a:ext cx="54994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6" name="Text 24"/>
          <p:cNvSpPr/>
          <p:nvPr/>
        </p:nvSpPr>
        <p:spPr>
          <a:xfrm>
            <a:off x="6151309" y="3798887"/>
            <a:ext cx="54994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Proactive Upsell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51309" y="4140795"/>
            <a:ext cx="54994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confirm: 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get_complementary_products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check_customer_owns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relevant add-ons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0927" y="4536877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0927" y="4732437"/>
            <a:ext cx="54993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0" name="Text 28"/>
          <p:cNvSpPr/>
          <p:nvPr/>
        </p:nvSpPr>
        <p:spPr>
          <a:xfrm>
            <a:off x="540927" y="4819055"/>
            <a:ext cx="54993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Checkout Handoff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0927" y="5160963"/>
            <a:ext cx="54993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initiate_checkout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creates immutable order snapshot; triggers Razorpay Checkout modal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51309" y="4536877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51309" y="4732437"/>
            <a:ext cx="54994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4" name="Text 32"/>
          <p:cNvSpPr/>
          <p:nvPr/>
        </p:nvSpPr>
        <p:spPr>
          <a:xfrm>
            <a:off x="6151309" y="4819055"/>
            <a:ext cx="54994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Payment Verification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151309" y="5160963"/>
            <a:ext cx="54994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verify_payment_signature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(HMAC-SHA256) validates Razorpay webhook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0927" y="5557044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09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0927" y="5752604"/>
            <a:ext cx="54993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8" name="Text 36"/>
          <p:cNvSpPr/>
          <p:nvPr/>
        </p:nvSpPr>
        <p:spPr>
          <a:xfrm>
            <a:off x="540927" y="5839222"/>
            <a:ext cx="54993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Atomic Transaction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40927" y="6181130"/>
            <a:ext cx="5499359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 row locks (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decrement inventory, mark order paid, empty cart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51309" y="5557044"/>
            <a:ext cx="245064" cy="153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51309" y="5752604"/>
            <a:ext cx="5499459" cy="1270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42" name="Text 40"/>
          <p:cNvSpPr/>
          <p:nvPr/>
        </p:nvSpPr>
        <p:spPr>
          <a:xfrm>
            <a:off x="6151309" y="5839222"/>
            <a:ext cx="5499459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Merchant Review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151309" y="6181130"/>
            <a:ext cx="549945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Outcome surfaces on dashboard with full decision trace and attribution tag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93A816D-C8EB-66B1-B285-67A03C689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380901"/>
            <a:ext cx="11109841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Attribution Engine: Revenue-Growth Proof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40927" y="1102717"/>
            <a:ext cx="11109841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cart item is tagged at insertion with a source: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ai_recommendation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ai_upsell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or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organic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An order is flagged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ai_assisted = true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if </a:t>
            </a:r>
            <a:r>
              <a:rPr lang="en-US" sz="900" i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item originated from the AI;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only if 100% organic. This makes incremental AI revenue mathematically isolatable.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189" y="1566863"/>
            <a:ext cx="5580617" cy="4910237"/>
          </a:xfrm>
          <a:prstGeom prst="roundRect">
            <a:avLst>
              <a:gd name="adj" fmla="val 5681"/>
            </a:avLst>
          </a:prstGeom>
          <a:solidFill>
            <a:srgbClr val="824E5C"/>
          </a:solidFill>
          <a:ln/>
        </p:spPr>
      </p:sp>
      <p:sp>
        <p:nvSpPr>
          <p:cNvPr id="5" name="Text 3"/>
          <p:cNvSpPr/>
          <p:nvPr/>
        </p:nvSpPr>
        <p:spPr>
          <a:xfrm>
            <a:off x="573371" y="1666677"/>
            <a:ext cx="5348253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Core Attribution Formulas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3371" y="2027535"/>
            <a:ext cx="595783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AI-Assisted 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3371" y="2312591"/>
            <a:ext cx="5348253" cy="418207"/>
          </a:xfrm>
          <a:prstGeom prst="roundRect">
            <a:avLst>
              <a:gd name="adj" fmla="val 41688"/>
            </a:avLst>
          </a:prstGeom>
          <a:solidFill>
            <a:srgbClr val="8F5B69"/>
          </a:solidFill>
          <a:ln/>
        </p:spPr>
      </p:sp>
      <p:sp>
        <p:nvSpPr>
          <p:cNvPr id="8" name="Text 6"/>
          <p:cNvSpPr/>
          <p:nvPr/>
        </p:nvSpPr>
        <p:spPr>
          <a:xfrm>
            <a:off x="712770" y="2428776"/>
            <a:ext cx="5679040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(AI-Assisted Orders / Total Paid Orders) × 100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3371" y="2843113"/>
            <a:ext cx="595783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3371" y="3128169"/>
            <a:ext cx="5348253" cy="418207"/>
          </a:xfrm>
          <a:prstGeom prst="roundRect">
            <a:avLst>
              <a:gd name="adj" fmla="val 41688"/>
            </a:avLst>
          </a:prstGeom>
          <a:solidFill>
            <a:srgbClr val="8F5B69"/>
          </a:solidFill>
          <a:ln/>
        </p:spPr>
      </p:sp>
      <p:sp>
        <p:nvSpPr>
          <p:cNvPr id="11" name="Text 9"/>
          <p:cNvSpPr/>
          <p:nvPr/>
        </p:nvSpPr>
        <p:spPr>
          <a:xfrm>
            <a:off x="712770" y="3244354"/>
            <a:ext cx="5679040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AOV = Total Revenue / Total Orders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3371" y="3658691"/>
            <a:ext cx="595783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Upsell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3371" y="3943747"/>
            <a:ext cx="5348253" cy="418207"/>
          </a:xfrm>
          <a:prstGeom prst="roundRect">
            <a:avLst>
              <a:gd name="adj" fmla="val 41688"/>
            </a:avLst>
          </a:prstGeom>
          <a:solidFill>
            <a:srgbClr val="8F5B69"/>
          </a:solidFill>
          <a:ln/>
        </p:spPr>
      </p:sp>
      <p:sp>
        <p:nvSpPr>
          <p:cNvPr id="14" name="Text 12"/>
          <p:cNvSpPr/>
          <p:nvPr/>
        </p:nvSpPr>
        <p:spPr>
          <a:xfrm>
            <a:off x="712770" y="4059932"/>
            <a:ext cx="5679040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upsell_amount WHERE upsell_accepted = true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3371" y="4474270"/>
            <a:ext cx="595783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Upsell Acceptance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3371" y="4759325"/>
            <a:ext cx="5348253" cy="604044"/>
          </a:xfrm>
          <a:prstGeom prst="roundRect">
            <a:avLst>
              <a:gd name="adj" fmla="val 28863"/>
            </a:avLst>
          </a:prstGeom>
          <a:solidFill>
            <a:srgbClr val="8F5B69"/>
          </a:solidFill>
          <a:ln/>
        </p:spPr>
      </p:sp>
      <p:sp>
        <p:nvSpPr>
          <p:cNvPr id="17" name="Text 15"/>
          <p:cNvSpPr/>
          <p:nvPr/>
        </p:nvSpPr>
        <p:spPr>
          <a:xfrm>
            <a:off x="712770" y="4875510"/>
            <a:ext cx="5069455" cy="371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(Accepted Upsell Add-to-Carts /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Upsell Add-to-Carts) × 100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3371" y="5475684"/>
            <a:ext cx="595783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3371" y="5760740"/>
            <a:ext cx="5348253" cy="604044"/>
          </a:xfrm>
          <a:prstGeom prst="roundRect">
            <a:avLst>
              <a:gd name="adj" fmla="val 28863"/>
            </a:avLst>
          </a:prstGeom>
          <a:solidFill>
            <a:srgbClr val="8F5B69"/>
          </a:solidFill>
          <a:ln/>
        </p:spPr>
      </p:sp>
      <p:sp>
        <p:nvSpPr>
          <p:cNvPr id="20" name="Text 18"/>
          <p:cNvSpPr/>
          <p:nvPr/>
        </p:nvSpPr>
        <p:spPr>
          <a:xfrm>
            <a:off x="712770" y="5876925"/>
            <a:ext cx="5069455" cy="371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(Sessions with Paid Orders /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Active Sessions) × 100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3977" y="1666677"/>
            <a:ext cx="541314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This Matters to Judges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3977" y="2027535"/>
            <a:ext cx="5413140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Attribution is the mechanism that makes growth claims verifiable — not anecdotal. With these five formulas, a merchant can answer: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3977" y="2462907"/>
            <a:ext cx="5413140" cy="795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4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fraction of my revenue did the AI touch?</a:t>
            </a:r>
            <a:endParaRPr lang="en-US" sz="900" dirty="0"/>
          </a:p>
          <a:p>
            <a:pPr marL="182880" indent="-182880" algn="l">
              <a:lnSpc>
                <a:spcPct val="124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AI-assisted carts have higher AOV than organic ones?</a:t>
            </a:r>
            <a:endParaRPr lang="en-US" sz="900" dirty="0"/>
          </a:p>
          <a:p>
            <a:pPr marL="182880" indent="-182880" algn="l">
              <a:lnSpc>
                <a:spcPct val="124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upsell offers are actually converting?</a:t>
            </a:r>
            <a:endParaRPr lang="en-US" sz="900" dirty="0"/>
          </a:p>
          <a:p>
            <a:pPr marL="182880" indent="-182880" algn="l">
              <a:lnSpc>
                <a:spcPct val="124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the AI's net contribution to session-level conversion?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43977" y="3358455"/>
            <a:ext cx="541314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Audit Guarantee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43977" y="3719314"/>
            <a:ext cx="5413140" cy="524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rupee of incremental revenue is isolated, measured, and auditable. No claim in the dashboard is computed from estimates — all figures derive directly from tagged rows in the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cart_items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tables in Postgres.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43977" y="4356199"/>
            <a:ext cx="5413140" cy="583208"/>
          </a:xfrm>
          <a:prstGeom prst="roundRect">
            <a:avLst>
              <a:gd name="adj" fmla="val 29894"/>
            </a:avLst>
          </a:prstGeom>
          <a:solidFill>
            <a:srgbClr val="ECDFE3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160" y="4510286"/>
            <a:ext cx="145253" cy="11618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621595" y="4475063"/>
            <a:ext cx="4919341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tags are written at add-to-cart time and are immutable — they cannot be reattributed after the fact.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6DD9448-FBBF-D595-A239-96A2BC3CF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957" y="6480930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28427"/>
            <a:ext cx="11109841" cy="56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Bar: Explainable &amp; Bounded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40927" y="1218307"/>
            <a:ext cx="11109841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of the hardest requirements in agentic commerce — plain-English explainability and strict operational bounds — are both non-negotiable design constraints in ShopMind AI, not afterthoughts.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927" y="1845866"/>
            <a:ext cx="5402822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Explainable: Every Action Has a Decision String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0927" y="2240756"/>
            <a:ext cx="5402822" cy="870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action logs a plain-English decision string to the </a:t>
            </a:r>
            <a:r>
              <a:rPr lang="en-US" sz="9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ai_actions</a:t>
            </a: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table at execution time. There is no post-hoc rationalization — the log entry is written before the tool result is returned to the user.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Example decision string: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27950" y="3343573"/>
            <a:ext cx="521579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"Customer requested a coding laptop under ₹80k; selected Asus TUF with RTX 4050 and 16GB RAM."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0927" y="3240187"/>
            <a:ext cx="12700" cy="590153"/>
          </a:xfrm>
          <a:prstGeom prst="roundRect">
            <a:avLst>
              <a:gd name="adj" fmla="val 49999"/>
            </a:avLst>
          </a:prstGeom>
          <a:solidFill>
            <a:srgbClr val="C7A2AC"/>
          </a:solidFill>
          <a:ln/>
        </p:spPr>
      </p:sp>
      <p:sp>
        <p:nvSpPr>
          <p:cNvPr id="8" name="Text 6"/>
          <p:cNvSpPr/>
          <p:nvPr/>
        </p:nvSpPr>
        <p:spPr>
          <a:xfrm>
            <a:off x="540927" y="3959622"/>
            <a:ext cx="5402822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string is surfaced verbatim in the merchant dashboard, in the audit trail, and in any failure report. No black-box reasoning. No probabilistic scores that require interpretation. A merchant with no ML background can read exactly why the agent made the recommendation it did.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64505" y="1730970"/>
            <a:ext cx="5582403" cy="3098800"/>
          </a:xfrm>
          <a:prstGeom prst="roundRect">
            <a:avLst>
              <a:gd name="adj" fmla="val 9657"/>
            </a:avLst>
          </a:prstGeom>
          <a:solidFill>
            <a:srgbClr val="824E5C"/>
          </a:solidFill>
          <a:ln/>
        </p:spPr>
      </p:sp>
      <p:sp>
        <p:nvSpPr>
          <p:cNvPr id="10" name="Text 8"/>
          <p:cNvSpPr/>
          <p:nvPr/>
        </p:nvSpPr>
        <p:spPr>
          <a:xfrm>
            <a:off x="6289121" y="1845866"/>
            <a:ext cx="5333172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Bounded: Tool-Calling Is the Only Execution Path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89121" y="2240756"/>
            <a:ext cx="5333172" cy="870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agent has </a:t>
            </a:r>
            <a:r>
              <a:rPr lang="en-US" sz="9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zero hardcoded product knowledge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It cannot fabricate a product name, a price, a stock count, or a specification. Every piece of data it returns to the user came from a deterministic tool call against live Postgres state.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this means in practice: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89121" y="3214291"/>
            <a:ext cx="5333172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 product is out of stock in Postgres, the agent cannot recommend it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 price was updated 30 seconds ago, the agent sees the updated price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 tool call fails, the agent surfaces the failure — it does not guess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9121" y="3973116"/>
            <a:ext cx="5333172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 outputs are the source of truth. The LLM's role is routing and reasoning over structured tool results — not generating product data from parametric memory.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0927" y="4959052"/>
            <a:ext cx="3626652" cy="1470521"/>
          </a:xfrm>
          <a:prstGeom prst="roundRect">
            <a:avLst>
              <a:gd name="adj" fmla="val 12718"/>
            </a:avLst>
          </a:prstGeom>
          <a:solidFill>
            <a:srgbClr val="ECDF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543" y="5083671"/>
            <a:ext cx="374045" cy="374055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30" y="5186561"/>
            <a:ext cx="168271" cy="1682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5543" y="5572621"/>
            <a:ext cx="3377421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Decision Logged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65543" y="5921573"/>
            <a:ext cx="3377421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Plain-English string written to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ai_actions</a:t>
            </a: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before tool result returns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82472" y="4959052"/>
            <a:ext cx="3626652" cy="1470521"/>
          </a:xfrm>
          <a:prstGeom prst="roundRect">
            <a:avLst>
              <a:gd name="adj" fmla="val 12718"/>
            </a:avLst>
          </a:prstGeom>
          <a:solidFill>
            <a:srgbClr val="ECDFE3"/>
          </a:solidFill>
          <a:ln/>
        </p:spPr>
      </p:sp>
      <p:sp>
        <p:nvSpPr>
          <p:cNvPr id="20" name="Shape 17"/>
          <p:cNvSpPr/>
          <p:nvPr/>
        </p:nvSpPr>
        <p:spPr>
          <a:xfrm>
            <a:off x="4407087" y="5083671"/>
            <a:ext cx="374045" cy="374055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9975" y="5186561"/>
            <a:ext cx="168271" cy="1682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07087" y="5572621"/>
            <a:ext cx="3377421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 From Postgres Only</a:t>
            </a:r>
            <a:endParaRPr lang="en-US" sz="1750" dirty="0"/>
          </a:p>
        </p:txBody>
      </p:sp>
      <p:sp>
        <p:nvSpPr>
          <p:cNvPr id="23" name="Text 19"/>
          <p:cNvSpPr/>
          <p:nvPr/>
        </p:nvSpPr>
        <p:spPr>
          <a:xfrm>
            <a:off x="4407087" y="5921573"/>
            <a:ext cx="3377421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product data sourced from live DB via deterministic tool calls — no LLM parametric memory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024016" y="4959052"/>
            <a:ext cx="3626652" cy="1470521"/>
          </a:xfrm>
          <a:prstGeom prst="roundRect">
            <a:avLst>
              <a:gd name="adj" fmla="val 12718"/>
            </a:avLst>
          </a:prstGeom>
          <a:solidFill>
            <a:srgbClr val="ECDFE3"/>
          </a:solidFill>
          <a:ln/>
        </p:spPr>
      </p:sp>
      <p:sp>
        <p:nvSpPr>
          <p:cNvPr id="25" name="Shape 21"/>
          <p:cNvSpPr/>
          <p:nvPr/>
        </p:nvSpPr>
        <p:spPr>
          <a:xfrm>
            <a:off x="8148632" y="5083671"/>
            <a:ext cx="374045" cy="374055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519" y="5186561"/>
            <a:ext cx="168271" cy="1682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48632" y="5572621"/>
            <a:ext cx="3377421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Hallucination-Proof</a:t>
            </a:r>
            <a:endParaRPr lang="en-US" sz="1750" dirty="0"/>
          </a:p>
        </p:txBody>
      </p:sp>
      <p:sp>
        <p:nvSpPr>
          <p:cNvPr id="28" name="Text 23"/>
          <p:cNvSpPr/>
          <p:nvPr/>
        </p:nvSpPr>
        <p:spPr>
          <a:xfrm>
            <a:off x="8148632" y="5921573"/>
            <a:ext cx="3377421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cannot recommend what doesn't exist in the database at query time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E26C9A7-6F35-D63F-4269-DAD54A773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82501"/>
            <a:ext cx="11109841" cy="569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Bar: Gated &amp; Audit Trail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540927" y="1289844"/>
            <a:ext cx="1110984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Autonomous does not mean unaccountable. Every consequential action in ShopMind AI is either gated behind explicit user approval or recorded with full context for post-hoc audit.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9549" y="1816398"/>
            <a:ext cx="5582999" cy="4559102"/>
          </a:xfrm>
          <a:prstGeom prst="roundRect">
            <a:avLst>
              <a:gd name="adj" fmla="val 6675"/>
            </a:avLst>
          </a:prstGeom>
          <a:solidFill>
            <a:srgbClr val="824E5C"/>
          </a:solidFill>
          <a:ln/>
        </p:spPr>
      </p:sp>
      <p:sp>
        <p:nvSpPr>
          <p:cNvPr id="5" name="Text 3"/>
          <p:cNvSpPr/>
          <p:nvPr/>
        </p:nvSpPr>
        <p:spPr>
          <a:xfrm>
            <a:off x="576248" y="1935262"/>
            <a:ext cx="532960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Gated: Human-in-the-Loop on Every State Mutation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76248" y="2338884"/>
            <a:ext cx="5329600" cy="892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state-mutating action — </a:t>
            </a:r>
            <a:r>
              <a:rPr lang="en-US" sz="9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9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initiate_checkout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pauses execution and presents an explicit </a:t>
            </a:r>
            <a:r>
              <a:rPr lang="en-US" sz="9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 Confirm / ✕ Cancel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decision to the user before executing. The backend will not proceed without a recorded approval flag.</a:t>
            </a:r>
            <a:endParaRPr lang="en-US" sz="9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this prevents: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6248" y="3338612"/>
            <a:ext cx="5329600" cy="672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9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autonomous purchasing without user consent</a:t>
            </a:r>
            <a:endParaRPr lang="en-US" sz="950" dirty="0"/>
          </a:p>
          <a:p>
            <a:pPr marL="193040" indent="-193040" algn="l">
              <a:lnSpc>
                <a:spcPct val="129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silent cart modification by the agent</a:t>
            </a:r>
            <a:endParaRPr lang="en-US" sz="950" dirty="0"/>
          </a:p>
          <a:p>
            <a:pPr marL="193040" indent="-193040" algn="l">
              <a:lnSpc>
                <a:spcPct val="129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checkout initiated without user-visible order summary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248" y="4118074"/>
            <a:ext cx="53296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user_approved = true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 required field in the </a:t>
            </a:r>
            <a:r>
              <a:rPr lang="en-US" sz="9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ai_actions</a:t>
            </a: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table for any tool that mutates state. A missing or false value blocks downstream execution.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6876" y="1935262"/>
            <a:ext cx="540024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Audit Trail: The </a:t>
            </a:r>
            <a:r>
              <a:rPr lang="en-US" sz="17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ai_actions</a:t>
            </a:r>
            <a:r>
              <a:rPr lang="en-US" sz="17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Table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56876" y="2345234"/>
            <a:ext cx="5400242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tool call — read or write — is persisted as a structured row. The schema below is the source of truth for all dashboard metrics, failure reports, and compliance reviews: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6876" y="2871788"/>
          <a:ext cx="5400242" cy="2857426"/>
        </p:xfrm>
        <a:graphic>
          <a:graphicData uri="http://schemas.openxmlformats.org/drawingml/2006/table">
            <a:tbl>
              <a:tblPr/>
              <a:tblGrid>
                <a:gridCol w="2700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7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252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Column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2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252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Example Value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A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session_id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sess_abc123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search_products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"gaming laptop ₹80k"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[Asus TUF, Dell G15, ...]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decision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"selected Asus TUF"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user_approved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7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success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6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796" marR="126796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56876" y="5875635"/>
            <a:ext cx="5400242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action is traceable end to end. Judges can audit the exact reasoning and user approval for any order placed through the system.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1861FD-57B0-F8B2-109E-57F258F7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375245"/>
            <a:ext cx="11109841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Bar: One Handled Failure (End-to-End)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0927" y="890389"/>
            <a:ext cx="11650768" cy="117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Happy-path demos prove nothing. Here is how ShopMind AI degrades gracefully under a real-world failure — </a:t>
            </a: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payment signature mismatch or stockout during checkout</a:t>
            </a: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with no data loss and full merchant visibility.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70" y="1073448"/>
            <a:ext cx="8639554" cy="395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91431" y="3795769"/>
            <a:ext cx="1622022" cy="89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Recovery Context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347239" y="3571312"/>
            <a:ext cx="1622023" cy="1347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Merchant Notification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314156" y="3795769"/>
            <a:ext cx="1622022" cy="89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Graceful Response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236634" y="4020227"/>
            <a:ext cx="1622022" cy="44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Detection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77032" y="5093097"/>
            <a:ext cx="5574466" cy="603250"/>
          </a:xfrm>
          <a:prstGeom prst="roundRect">
            <a:avLst>
              <a:gd name="adj" fmla="val 35311"/>
            </a:avLst>
          </a:prstGeom>
          <a:solidFill>
            <a:srgbClr val="824E5C"/>
          </a:solidFill>
          <a:ln/>
        </p:spPr>
      </p:sp>
      <p:sp>
        <p:nvSpPr>
          <p:cNvPr id="10" name="Text 7"/>
          <p:cNvSpPr/>
          <p:nvPr/>
        </p:nvSpPr>
        <p:spPr>
          <a:xfrm>
            <a:off x="565731" y="5151338"/>
            <a:ext cx="5397067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5731" y="5408811"/>
            <a:ext cx="5397067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verify_payment_signature</a:t>
            </a:r>
            <a:r>
              <a:rPr lang="en-US" sz="6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fails HMAC-SHA256 comparison, </a:t>
            </a:r>
            <a:r>
              <a:rPr lang="en-US" sz="65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</a:t>
            </a:r>
            <a:r>
              <a:rPr lang="en-US" sz="6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Postgres </a:t>
            </a:r>
            <a:r>
              <a:rPr lang="en-US" sz="650" dirty="0">
                <a:solidFill>
                  <a:srgbClr val="FFFFFF"/>
                </a:solidFill>
                <a:highlight>
                  <a:srgbClr val="8F5B6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</a:t>
            </a:r>
            <a:r>
              <a:rPr lang="en-US" sz="6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inventory row-lock reveals zero stock at commit time — a race condition that optimistic locking cannot prevent at checkout concurrency.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210442" y="5151338"/>
            <a:ext cx="5446675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Graceful Response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10442" y="5408811"/>
            <a:ext cx="5446675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is marked </a:t>
            </a:r>
            <a:r>
              <a:rPr lang="en-US" sz="6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failed</a:t>
            </a: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a stored </a:t>
            </a:r>
            <a:r>
              <a:rPr lang="en-US" sz="6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failure_reason</a:t>
            </a: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string. Customer is notified with a specific error (not a generic "something went wrong"). Cart is </a:t>
            </a: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preserved, not emptied</a:t>
            </a: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the customer can retry without re-selecting items.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40927" y="5820073"/>
            <a:ext cx="5446675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Merchant Visibility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0927" y="6077545"/>
            <a:ext cx="5446675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surfaces on the dashboard's </a:t>
            </a: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"Handled Failures"</a:t>
            </a: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section with full context: reason, timestamp, customer session ID, and recovery action taken. Merchants see failure rates alongside success rates — not just happy-path conversion.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210442" y="5820073"/>
            <a:ext cx="5446675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10442" y="6077545"/>
            <a:ext cx="54466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system that only handles the success path is not production-grade. ShopMind AI treats failure as a first-class concern: every failure mode is detected, categorized, logged, and surfaced — making the system auditable even when things go wrong.</a:t>
            </a:r>
            <a:endParaRPr lang="en-US" sz="6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FAA6AE-C5BD-9243-3923-16946E78F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376039"/>
            <a:ext cx="11109841" cy="47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Tech Stack: Credible, Auditable, Deployed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40927" y="1015702"/>
            <a:ext cx="11650768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component is production-deployed and named. No placeholders, no "coming soon." The live app at </a:t>
            </a:r>
            <a:r>
              <a:rPr lang="en-US" sz="800" b="1" u="sng" dirty="0">
                <a:solidFill>
                  <a:srgbClr val="C7A2A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shopymind.vercel.app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runs on exactly this stack.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27" y="1259086"/>
            <a:ext cx="11109841" cy="67389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684" y="1516757"/>
            <a:ext cx="158448" cy="1584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8737" y="1377355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58737" y="1664196"/>
            <a:ext cx="10473765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Vanilla JS ES6+, HTML5, CSS3 glassmorphism, </a:t>
            </a: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Razorpay Checkout SDK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2015530"/>
            <a:ext cx="11109841" cy="68024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684" y="2276376"/>
            <a:ext cx="158448" cy="1584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8737" y="2133798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Backend</a:t>
            </a: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1058737" y="2420640"/>
            <a:ext cx="10473765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FastAPI (Python 3.12)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async, modular routes: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/api/checkout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</a:t>
            </a:r>
            <a:endParaRPr lang="en-US" sz="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2778323"/>
            <a:ext cx="11109841" cy="680244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684" y="3039170"/>
            <a:ext cx="158448" cy="15845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8737" y="2896592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AI Layer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1058737" y="3183434"/>
            <a:ext cx="10473765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Google GenAI SDK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gemini-3.5-flash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function declarations,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thought_signature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persistence across turns</a:t>
            </a:r>
            <a:endParaRPr lang="en-US" sz="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3541117"/>
            <a:ext cx="11109841" cy="680244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684" y="3801963"/>
            <a:ext cx="158448" cy="15845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58737" y="3659386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9" name="Text 9"/>
          <p:cNvSpPr/>
          <p:nvPr/>
        </p:nvSpPr>
        <p:spPr>
          <a:xfrm>
            <a:off x="1058737" y="3946227"/>
            <a:ext cx="10473765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Supabase Postgres 15+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via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asyncpg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pooled connection (port 6543), direct fallback for resilience</a:t>
            </a:r>
            <a:endParaRPr lang="en-US" sz="8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27" y="4303911"/>
            <a:ext cx="11109841" cy="673894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684" y="4561582"/>
            <a:ext cx="158448" cy="15845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058737" y="4422180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Payments</a:t>
            </a:r>
            <a:endParaRPr lang="en-US" sz="1450" dirty="0"/>
          </a:p>
        </p:txBody>
      </p:sp>
      <p:sp>
        <p:nvSpPr>
          <p:cNvPr id="23" name="Text 11"/>
          <p:cNvSpPr/>
          <p:nvPr/>
        </p:nvSpPr>
        <p:spPr>
          <a:xfrm>
            <a:off x="1058737" y="4709021"/>
            <a:ext cx="10473765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Razorpay Python SDK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HMAC-SHA256 verification, idempotent webhooks</a:t>
            </a:r>
            <a:endParaRPr lang="en-US" sz="8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5060355"/>
            <a:ext cx="11109841" cy="680244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684" y="5321201"/>
            <a:ext cx="158448" cy="15845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058737" y="5178623"/>
            <a:ext cx="1047376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7" name="Text 13"/>
          <p:cNvSpPr/>
          <p:nvPr/>
        </p:nvSpPr>
        <p:spPr>
          <a:xfrm>
            <a:off x="1058737" y="5465465"/>
            <a:ext cx="10473765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Vercel Serverless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@vercel/python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@vercel/static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), DB-persisted session state surviving cold starts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F902C47-567B-F901-A412-75F93BE097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85957" y="6472304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672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Differentiators: Why ShopMind Wins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33360" y="1014809"/>
            <a:ext cx="629686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architectural choices that directly address the hackathon scoring rubric — explainability, safety, resilience, and measurable ROI.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233360" y="1390154"/>
            <a:ext cx="6296860" cy="1176933"/>
          </a:xfrm>
          <a:prstGeom prst="roundRect">
            <a:avLst>
              <a:gd name="adj" fmla="val 411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54801" y="1511598"/>
            <a:ext cx="345471" cy="345480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9751" y="1606550"/>
            <a:ext cx="155472" cy="1554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54801" y="1927225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Zero Hallucination Guarantee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354801" y="2149177"/>
            <a:ext cx="605397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Strictly grounded in real-time Postgres state — no hardcoded catalog, no AI invention. Every response is traceable to a live DB row.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233360" y="2637234"/>
            <a:ext cx="6296860" cy="1176933"/>
          </a:xfrm>
          <a:prstGeom prst="roundRect">
            <a:avLst>
              <a:gd name="adj" fmla="val 411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54801" y="2758678"/>
            <a:ext cx="345471" cy="345480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9751" y="2853630"/>
            <a:ext cx="155472" cy="1554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4801" y="3174305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Human-in-the-Loop Safety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354801" y="3396258"/>
            <a:ext cx="605397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autonomous purchasing without explicit user approval. Rogue agent actions are architecturally impossible — gating is enforced, not suggested.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233360" y="3884315"/>
            <a:ext cx="6296860" cy="1176933"/>
          </a:xfrm>
          <a:prstGeom prst="roundRect">
            <a:avLst>
              <a:gd name="adj" fmla="val 411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54801" y="4005759"/>
            <a:ext cx="345471" cy="345480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9751" y="4100711"/>
            <a:ext cx="155472" cy="1554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4801" y="4421386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True Serverless Resilience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354801" y="4643338"/>
            <a:ext cx="605397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 history, tool calls, and Gemini </a:t>
            </a:r>
            <a:r>
              <a:rPr lang="en-US" sz="90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thought_signatures</a:t>
            </a: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persist across stateless Vercel cold starts via JSONB persistence.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233360" y="5131395"/>
            <a:ext cx="6296860" cy="1176933"/>
          </a:xfrm>
          <a:prstGeom prst="roundRect">
            <a:avLst>
              <a:gd name="adj" fmla="val 411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54801" y="5252839"/>
            <a:ext cx="345471" cy="345480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9751" y="5347791"/>
            <a:ext cx="155472" cy="1554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54801" y="5668466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Business-First Observability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354801" y="5890419"/>
            <a:ext cx="605397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just a chatbot — a full merchant operations command center with measurable ROI, failure diagnostics, and audit trail at every layer.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3946077-AFC5-FBD3-EC0C-460CA2D48A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6614" y="6476967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Impact: AI-Assisted vs Organic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Indexed to organic baseline (1×). AI-assisted channel consistently outperforms across every commerce metric that matters.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233444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Campaign Orchestrator Results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745192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Abandonment Recovery Tiers: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61475" y="7618413"/>
            <a:ext cx="10868745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&lt;15 min — untouched, user still active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15–60 min — reminder nudge → </a:t>
            </a: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8% recovery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&gt;60 min high-value — autonomous 5–10% discount → </a:t>
            </a: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23% recovery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61475" y="8091884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1,247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61475" y="8486378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Nudges Sent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04002" y="8091884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287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304002" y="8486378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Carts Recovered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46628" y="8091884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₹2.14L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946628" y="8486378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Incremental Revenue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1475" y="8687098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EBE2E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9" y="8757940"/>
            <a:ext cx="118067" cy="94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8450" y="8757940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recovery is auditable — inspect the exact AI decision, discount tier, and user response live in the dashboard.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82692E-C94F-8154-0FCD-CEB9B9312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614" y="6476967"/>
            <a:ext cx="1175386" cy="3810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170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Roadmap: Beyond the Hackathon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237357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Honest next steps grounded in real emerging standards — not vaporware. This is where the architecture is already pointed.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40858" y="1858963"/>
            <a:ext cx="19050" cy="4461867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6" name="Shape 3"/>
          <p:cNvSpPr/>
          <p:nvPr/>
        </p:nvSpPr>
        <p:spPr>
          <a:xfrm>
            <a:off x="1001191" y="2028825"/>
            <a:ext cx="478421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1858963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1253" y="1888877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638259" y="1913731"/>
            <a:ext cx="53200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Agent-Readable Catalog Spec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38259" y="2243534"/>
            <a:ext cx="532007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 an OpenAPI/MCP-style endpoint so external AI buyer agents can transact directly with the merchant — not just through our chat UI.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1191" y="3152775"/>
            <a:ext cx="478421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2982913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1253" y="3012827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638259" y="3037681"/>
            <a:ext cx="53200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Agent-to-Agent Checkout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638259" y="3367484"/>
            <a:ext cx="532007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support for emerging protocols — </a:t>
            </a:r>
            <a:r>
              <a:rPr lang="en-US" sz="12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ACP, AP2, x402</a:t>
            </a: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enabling peer AI commerce without human intermediation.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01191" y="4276725"/>
            <a:ext cx="478421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475" y="4106863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1253" y="4136777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638259" y="4161631"/>
            <a:ext cx="53200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Failure-Simulation &amp; Recovery Library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638259" y="4491434"/>
            <a:ext cx="532007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Expanded audit dashboard with chaos-engineering scenarios and recovery playbooks — because production resilience must be provable, not assumed.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01191" y="5635823"/>
            <a:ext cx="478421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22" name="Shape 19"/>
          <p:cNvSpPr/>
          <p:nvPr/>
        </p:nvSpPr>
        <p:spPr>
          <a:xfrm>
            <a:off x="661475" y="5465961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1253" y="5495875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1638259" y="5520730"/>
            <a:ext cx="53200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Multi-Category Expansion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638259" y="5850533"/>
            <a:ext cx="532007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beyond laptops to fashion, electronics, and SaaS subscriptions — same agent architecture, new domain tool registries.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64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Demo &amp; Closing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82926" y="2372122"/>
            <a:ext cx="5032844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ShopMind AI turns conversational intent directly into </a:t>
            </a:r>
            <a:r>
              <a:rPr lang="en-US" sz="11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explainable, bounded, gated</a:t>
            </a: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Razorpay transactions — with a full audit trail merchants can trust.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2268339"/>
            <a:ext cx="19050" cy="838597"/>
          </a:xfrm>
          <a:prstGeom prst="roundRect">
            <a:avLst>
              <a:gd name="adj" fmla="val 49999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236714"/>
            <a:ext cx="5254295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Judges: every transaction, every nudge, every AI thought is auditable. </a:t>
            </a:r>
            <a:r>
              <a:rPr lang="en-US" sz="11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The proof is live.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 with the shopping copilot, trigger an abandoned-cart recovery, and inspect the AI decision trace in real-time. No staging environment, no mocked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4521994"/>
            <a:ext cx="5254295" cy="702072"/>
          </a:xfrm>
          <a:prstGeom prst="roundRect">
            <a:avLst>
              <a:gd name="adj" fmla="val 8834"/>
            </a:avLst>
          </a:prstGeom>
          <a:solidFill>
            <a:srgbClr val="B6FCB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09" y="4703763"/>
            <a:ext cx="184542" cy="147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1285" y="4662686"/>
            <a:ext cx="462685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claim in this deck is verifiable against the live system — right now, in this room.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282275" y="4740077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Try It Now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275" y="5100538"/>
            <a:ext cx="2569503" cy="11000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5156" y="5267226"/>
            <a:ext cx="215993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App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525156" y="5613202"/>
            <a:ext cx="215993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u="sng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shopymind.vercel.app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7067" y="5100538"/>
            <a:ext cx="2569503" cy="11000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09949" y="5267226"/>
            <a:ext cx="215993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Merchant Dashboard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209949" y="5613202"/>
            <a:ext cx="215993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u="sng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shopymind.vercel.app/dashboard.html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8AAF4F-692C-7628-C2BA-A41558BF73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6614" y="6476967"/>
            <a:ext cx="1175386" cy="381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0F9895-A81D-0F1F-661D-13957B3C78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044" y="430115"/>
            <a:ext cx="6073829" cy="41699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7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7A2A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2552</Words>
  <Application>Microsoft Office PowerPoint</Application>
  <PresentationFormat>Widescreen</PresentationFormat>
  <Paragraphs>251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Baskervville</vt:lpstr>
      <vt:lpstr>Open Sans Bold</vt:lpstr>
      <vt:lpstr>Poppins Bold</vt:lpstr>
      <vt:lpstr>Crimson Pro Bold</vt:lpstr>
      <vt:lpstr>Consolas</vt:lpstr>
      <vt:lpstr>Poppins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 Dhamal</cp:lastModifiedBy>
  <cp:revision>4</cp:revision>
  <dcterms:created xsi:type="dcterms:W3CDTF">2026-09-03T16:02:31Z</dcterms:created>
  <dcterms:modified xsi:type="dcterms:W3CDTF">2026-09-03T16:31:42Z</dcterms:modified>
</cp:coreProperties>
</file>